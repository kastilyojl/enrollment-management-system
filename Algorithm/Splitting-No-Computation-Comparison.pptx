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7" r:id="rId9"/>
    <p:sldId id="268" r:id="rId10"/>
    <p:sldId id="262" r:id="rId11"/>
    <p:sldId id="264" r:id="rId12"/>
    <p:sldId id="266" r:id="rId13"/>
    <p:sldId id="269" r:id="rId14"/>
    <p:sldId id="270" r:id="rId15"/>
    <p:sldId id="2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63810-035F-4AAE-B120-9C44277517FA}" type="datetimeFigureOut">
              <a:rPr lang="en-PH" smtClean="0"/>
              <a:t>23/04/2024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9FF9-DBA3-4FC5-B73F-AD35114479B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87951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63810-035F-4AAE-B120-9C44277517FA}" type="datetimeFigureOut">
              <a:rPr lang="en-PH" smtClean="0"/>
              <a:t>23/04/2024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9FF9-DBA3-4FC5-B73F-AD35114479B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79035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63810-035F-4AAE-B120-9C44277517FA}" type="datetimeFigureOut">
              <a:rPr lang="en-PH" smtClean="0"/>
              <a:t>23/04/2024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9FF9-DBA3-4FC5-B73F-AD35114479B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11551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63810-035F-4AAE-B120-9C44277517FA}" type="datetimeFigureOut">
              <a:rPr lang="en-PH" smtClean="0"/>
              <a:t>23/04/2024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9FF9-DBA3-4FC5-B73F-AD35114479B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06030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63810-035F-4AAE-B120-9C44277517FA}" type="datetimeFigureOut">
              <a:rPr lang="en-PH" smtClean="0"/>
              <a:t>23/04/2024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9FF9-DBA3-4FC5-B73F-AD35114479B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8395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63810-035F-4AAE-B120-9C44277517FA}" type="datetimeFigureOut">
              <a:rPr lang="en-PH" smtClean="0"/>
              <a:t>23/04/2024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9FF9-DBA3-4FC5-B73F-AD35114479B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34961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63810-035F-4AAE-B120-9C44277517FA}" type="datetimeFigureOut">
              <a:rPr lang="en-PH" smtClean="0"/>
              <a:t>23/04/2024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9FF9-DBA3-4FC5-B73F-AD35114479B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22899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63810-035F-4AAE-B120-9C44277517FA}" type="datetimeFigureOut">
              <a:rPr lang="en-PH" smtClean="0"/>
              <a:t>23/04/2024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9FF9-DBA3-4FC5-B73F-AD35114479B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0170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63810-035F-4AAE-B120-9C44277517FA}" type="datetimeFigureOut">
              <a:rPr lang="en-PH" smtClean="0"/>
              <a:t>23/04/2024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9FF9-DBA3-4FC5-B73F-AD35114479B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449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63810-035F-4AAE-B120-9C44277517FA}" type="datetimeFigureOut">
              <a:rPr lang="en-PH" smtClean="0"/>
              <a:t>23/04/2024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9FF9-DBA3-4FC5-B73F-AD35114479B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71010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63810-035F-4AAE-B120-9C44277517FA}" type="datetimeFigureOut">
              <a:rPr lang="en-PH" smtClean="0"/>
              <a:t>23/04/2024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89FF9-DBA3-4FC5-B73F-AD35114479B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63792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63810-035F-4AAE-B120-9C44277517FA}" type="datetimeFigureOut">
              <a:rPr lang="en-PH" smtClean="0"/>
              <a:t>23/04/2024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B89FF9-DBA3-4FC5-B73F-AD35114479B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62221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52475" y="495300"/>
            <a:ext cx="316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TRAINING DATA SET</a:t>
            </a:r>
            <a:endParaRPr lang="en-PH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088" y="1033025"/>
            <a:ext cx="7977188" cy="531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242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43525" y="733425"/>
            <a:ext cx="14859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DOCUMENTS</a:t>
            </a:r>
            <a:endParaRPr lang="en-PH" dirty="0"/>
          </a:p>
        </p:txBody>
      </p:sp>
      <p:sp>
        <p:nvSpPr>
          <p:cNvPr id="5" name="TextBox 4"/>
          <p:cNvSpPr txBox="1"/>
          <p:nvPr/>
        </p:nvSpPr>
        <p:spPr>
          <a:xfrm>
            <a:off x="3857625" y="1192768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complete</a:t>
            </a:r>
            <a:endParaRPr lang="en-PH" dirty="0"/>
          </a:p>
        </p:txBody>
      </p:sp>
      <p:sp>
        <p:nvSpPr>
          <p:cNvPr id="6" name="TextBox 5"/>
          <p:cNvSpPr txBox="1"/>
          <p:nvPr/>
        </p:nvSpPr>
        <p:spPr>
          <a:xfrm>
            <a:off x="6829425" y="1192768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incomplete</a:t>
            </a:r>
            <a:endParaRPr lang="en-PH" dirty="0"/>
          </a:p>
        </p:txBody>
      </p:sp>
      <p:sp>
        <p:nvSpPr>
          <p:cNvPr id="7" name="TextBox 6"/>
          <p:cNvSpPr txBox="1"/>
          <p:nvPr/>
        </p:nvSpPr>
        <p:spPr>
          <a:xfrm>
            <a:off x="5029200" y="268843"/>
            <a:ext cx="2114550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Eligible: y=2, n=25</a:t>
            </a:r>
            <a:endParaRPr lang="en-PH" dirty="0"/>
          </a:p>
        </p:txBody>
      </p:sp>
      <p:cxnSp>
        <p:nvCxnSpPr>
          <p:cNvPr id="9" name="Straight Arrow Connector 8"/>
          <p:cNvCxnSpPr>
            <a:stCxn id="4" idx="1"/>
            <a:endCxn id="5" idx="0"/>
          </p:cNvCxnSpPr>
          <p:nvPr/>
        </p:nvCxnSpPr>
        <p:spPr>
          <a:xfrm flipH="1">
            <a:off x="4600575" y="918091"/>
            <a:ext cx="742950" cy="274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4" idx="3"/>
            <a:endCxn id="6" idx="0"/>
          </p:cNvCxnSpPr>
          <p:nvPr/>
        </p:nvCxnSpPr>
        <p:spPr>
          <a:xfrm>
            <a:off x="6829425" y="918091"/>
            <a:ext cx="742950" cy="274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8" y="1952624"/>
            <a:ext cx="5415402" cy="20288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072" y="1952624"/>
            <a:ext cx="6044903" cy="1981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026664" y="4002641"/>
            <a:ext cx="2114550" cy="6463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y=2, n=13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split further</a:t>
            </a:r>
            <a:endParaRPr lang="en-PH" b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15325" y="4002641"/>
            <a:ext cx="2114550" cy="6463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n=12</a:t>
            </a:r>
          </a:p>
          <a:p>
            <a:pPr algn="ctr"/>
            <a:r>
              <a:rPr lang="en-US" b="1" dirty="0" smtClean="0">
                <a:solidFill>
                  <a:schemeClr val="accent6"/>
                </a:solidFill>
              </a:rPr>
              <a:t>pure subset</a:t>
            </a:r>
            <a:endParaRPr lang="en-PH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4740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43525" y="733425"/>
            <a:ext cx="14859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DOCUMENTS</a:t>
            </a:r>
            <a:endParaRPr lang="en-PH" dirty="0"/>
          </a:p>
        </p:txBody>
      </p:sp>
      <p:sp>
        <p:nvSpPr>
          <p:cNvPr id="5" name="TextBox 4"/>
          <p:cNvSpPr txBox="1"/>
          <p:nvPr/>
        </p:nvSpPr>
        <p:spPr>
          <a:xfrm>
            <a:off x="3857625" y="1192768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complete</a:t>
            </a:r>
            <a:endParaRPr lang="en-PH" dirty="0"/>
          </a:p>
        </p:txBody>
      </p:sp>
      <p:sp>
        <p:nvSpPr>
          <p:cNvPr id="6" name="TextBox 5"/>
          <p:cNvSpPr txBox="1"/>
          <p:nvPr/>
        </p:nvSpPr>
        <p:spPr>
          <a:xfrm>
            <a:off x="6829425" y="1192768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incomplete</a:t>
            </a:r>
            <a:endParaRPr lang="en-PH" dirty="0"/>
          </a:p>
        </p:txBody>
      </p:sp>
      <p:sp>
        <p:nvSpPr>
          <p:cNvPr id="7" name="TextBox 6"/>
          <p:cNvSpPr txBox="1"/>
          <p:nvPr/>
        </p:nvSpPr>
        <p:spPr>
          <a:xfrm>
            <a:off x="5029200" y="268843"/>
            <a:ext cx="2114550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Eligible: y=2, n=25</a:t>
            </a:r>
            <a:endParaRPr lang="en-PH" dirty="0"/>
          </a:p>
        </p:txBody>
      </p:sp>
      <p:cxnSp>
        <p:nvCxnSpPr>
          <p:cNvPr id="9" name="Straight Arrow Connector 8"/>
          <p:cNvCxnSpPr>
            <a:stCxn id="4" idx="1"/>
            <a:endCxn id="5" idx="0"/>
          </p:cNvCxnSpPr>
          <p:nvPr/>
        </p:nvCxnSpPr>
        <p:spPr>
          <a:xfrm flipH="1">
            <a:off x="4600575" y="918091"/>
            <a:ext cx="742950" cy="274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4" idx="3"/>
            <a:endCxn id="6" idx="0"/>
          </p:cNvCxnSpPr>
          <p:nvPr/>
        </p:nvCxnSpPr>
        <p:spPr>
          <a:xfrm>
            <a:off x="6829425" y="918091"/>
            <a:ext cx="742950" cy="274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24863" y="4649649"/>
            <a:ext cx="2114550" cy="6463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y=2, n=7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split further</a:t>
            </a:r>
            <a:endParaRPr lang="en-PH" b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80243" y="4132874"/>
            <a:ext cx="2114550" cy="6463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n=6</a:t>
            </a:r>
          </a:p>
          <a:p>
            <a:pPr algn="ctr"/>
            <a:r>
              <a:rPr lang="en-US" b="1" dirty="0" smtClean="0">
                <a:solidFill>
                  <a:schemeClr val="accent6"/>
                </a:solidFill>
              </a:rPr>
              <a:t>pure subset</a:t>
            </a:r>
            <a:endParaRPr lang="en-PH" b="1" dirty="0">
              <a:solidFill>
                <a:schemeClr val="accent6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30805" y="1708785"/>
            <a:ext cx="14859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TUITION</a:t>
            </a:r>
            <a:endParaRPr lang="en-PH" dirty="0"/>
          </a:p>
        </p:txBody>
      </p:sp>
      <p:sp>
        <p:nvSpPr>
          <p:cNvPr id="14" name="TextBox 13"/>
          <p:cNvSpPr txBox="1"/>
          <p:nvPr/>
        </p:nvSpPr>
        <p:spPr>
          <a:xfrm>
            <a:off x="1304925" y="2224802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p&gt;=50%</a:t>
            </a:r>
            <a:endParaRPr lang="en-PH" dirty="0"/>
          </a:p>
        </p:txBody>
      </p:sp>
      <p:sp>
        <p:nvSpPr>
          <p:cNvPr id="15" name="TextBox 14"/>
          <p:cNvSpPr txBox="1"/>
          <p:nvPr/>
        </p:nvSpPr>
        <p:spPr>
          <a:xfrm>
            <a:off x="3857625" y="2224802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p&lt;50%</a:t>
            </a:r>
            <a:endParaRPr lang="en-PH" dirty="0"/>
          </a:p>
        </p:txBody>
      </p:sp>
      <p:cxnSp>
        <p:nvCxnSpPr>
          <p:cNvPr id="3" name="Straight Arrow Connector 2"/>
          <p:cNvCxnSpPr>
            <a:stCxn id="13" idx="1"/>
            <a:endCxn id="14" idx="0"/>
          </p:cNvCxnSpPr>
          <p:nvPr/>
        </p:nvCxnSpPr>
        <p:spPr>
          <a:xfrm flipH="1">
            <a:off x="2047875" y="1893451"/>
            <a:ext cx="582930" cy="331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3" idx="3"/>
            <a:endCxn id="15" idx="0"/>
          </p:cNvCxnSpPr>
          <p:nvPr/>
        </p:nvCxnSpPr>
        <p:spPr>
          <a:xfrm>
            <a:off x="4116705" y="1893451"/>
            <a:ext cx="483870" cy="331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"/>
          <a:srcRect b="39650"/>
          <a:stretch/>
        </p:blipFill>
        <p:spPr>
          <a:xfrm>
            <a:off x="60138" y="2765732"/>
            <a:ext cx="5844000" cy="159845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2"/>
          <a:srcRect t="60352"/>
          <a:stretch/>
        </p:blipFill>
        <p:spPr>
          <a:xfrm>
            <a:off x="5946981" y="2772861"/>
            <a:ext cx="6068297" cy="90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351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29650" y="464582"/>
            <a:ext cx="14859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DOCUMENTS</a:t>
            </a:r>
            <a:endParaRPr lang="en-PH" dirty="0"/>
          </a:p>
        </p:txBody>
      </p:sp>
      <p:sp>
        <p:nvSpPr>
          <p:cNvPr id="5" name="TextBox 4"/>
          <p:cNvSpPr txBox="1"/>
          <p:nvPr/>
        </p:nvSpPr>
        <p:spPr>
          <a:xfrm>
            <a:off x="7143750" y="923925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complete</a:t>
            </a:r>
            <a:endParaRPr lang="en-PH" dirty="0"/>
          </a:p>
        </p:txBody>
      </p:sp>
      <p:sp>
        <p:nvSpPr>
          <p:cNvPr id="6" name="TextBox 5"/>
          <p:cNvSpPr txBox="1"/>
          <p:nvPr/>
        </p:nvSpPr>
        <p:spPr>
          <a:xfrm>
            <a:off x="10115550" y="923925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incomplete</a:t>
            </a:r>
            <a:endParaRPr lang="en-PH" dirty="0"/>
          </a:p>
        </p:txBody>
      </p:sp>
      <p:sp>
        <p:nvSpPr>
          <p:cNvPr id="7" name="TextBox 6"/>
          <p:cNvSpPr txBox="1"/>
          <p:nvPr/>
        </p:nvSpPr>
        <p:spPr>
          <a:xfrm>
            <a:off x="8315325" y="0"/>
            <a:ext cx="2114550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Eligible: y=2, n=25</a:t>
            </a:r>
            <a:endParaRPr lang="en-PH" dirty="0"/>
          </a:p>
        </p:txBody>
      </p:sp>
      <p:cxnSp>
        <p:nvCxnSpPr>
          <p:cNvPr id="9" name="Straight Arrow Connector 8"/>
          <p:cNvCxnSpPr>
            <a:stCxn id="4" idx="1"/>
            <a:endCxn id="5" idx="0"/>
          </p:cNvCxnSpPr>
          <p:nvPr/>
        </p:nvCxnSpPr>
        <p:spPr>
          <a:xfrm flipH="1">
            <a:off x="7886700" y="649248"/>
            <a:ext cx="742950" cy="274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4" idx="3"/>
            <a:endCxn id="6" idx="0"/>
          </p:cNvCxnSpPr>
          <p:nvPr/>
        </p:nvCxnSpPr>
        <p:spPr>
          <a:xfrm>
            <a:off x="10115550" y="649248"/>
            <a:ext cx="742950" cy="274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19161" y="4796608"/>
            <a:ext cx="2114550" cy="6463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y=2, n=4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split further</a:t>
            </a:r>
            <a:endParaRPr lang="en-PH" b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86969" y="4375655"/>
            <a:ext cx="2114550" cy="6463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n=3</a:t>
            </a:r>
          </a:p>
          <a:p>
            <a:pPr algn="ctr"/>
            <a:r>
              <a:rPr lang="en-US" b="1" dirty="0" smtClean="0">
                <a:solidFill>
                  <a:schemeClr val="accent6"/>
                </a:solidFill>
              </a:rPr>
              <a:t>pure subset</a:t>
            </a:r>
            <a:endParaRPr lang="en-PH" b="1" dirty="0">
              <a:solidFill>
                <a:schemeClr val="accent6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16930" y="1439942"/>
            <a:ext cx="14859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TUITION</a:t>
            </a:r>
            <a:endParaRPr lang="en-PH" dirty="0"/>
          </a:p>
        </p:txBody>
      </p:sp>
      <p:sp>
        <p:nvSpPr>
          <p:cNvPr id="14" name="TextBox 13"/>
          <p:cNvSpPr txBox="1"/>
          <p:nvPr/>
        </p:nvSpPr>
        <p:spPr>
          <a:xfrm>
            <a:off x="4591050" y="1955959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p&gt;=50%</a:t>
            </a:r>
            <a:endParaRPr lang="en-PH" dirty="0"/>
          </a:p>
        </p:txBody>
      </p:sp>
      <p:sp>
        <p:nvSpPr>
          <p:cNvPr id="15" name="TextBox 14"/>
          <p:cNvSpPr txBox="1"/>
          <p:nvPr/>
        </p:nvSpPr>
        <p:spPr>
          <a:xfrm>
            <a:off x="7143750" y="1955959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p&lt;50%</a:t>
            </a:r>
            <a:endParaRPr lang="en-PH" dirty="0"/>
          </a:p>
        </p:txBody>
      </p:sp>
      <p:cxnSp>
        <p:nvCxnSpPr>
          <p:cNvPr id="3" name="Straight Arrow Connector 2"/>
          <p:cNvCxnSpPr>
            <a:stCxn id="13" idx="1"/>
            <a:endCxn id="14" idx="0"/>
          </p:cNvCxnSpPr>
          <p:nvPr/>
        </p:nvCxnSpPr>
        <p:spPr>
          <a:xfrm flipH="1">
            <a:off x="5334000" y="1624608"/>
            <a:ext cx="582930" cy="331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3" idx="3"/>
            <a:endCxn id="15" idx="0"/>
          </p:cNvCxnSpPr>
          <p:nvPr/>
        </p:nvCxnSpPr>
        <p:spPr>
          <a:xfrm>
            <a:off x="7402830" y="1624608"/>
            <a:ext cx="483870" cy="331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"/>
          <a:srcRect b="60360"/>
          <a:stretch/>
        </p:blipFill>
        <p:spPr>
          <a:xfrm>
            <a:off x="376021" y="3620620"/>
            <a:ext cx="5600830" cy="1006242"/>
          </a:xfrm>
          <a:prstGeom prst="rect">
            <a:avLst/>
          </a:prstGeom>
        </p:spPr>
      </p:pic>
      <p:cxnSp>
        <p:nvCxnSpPr>
          <p:cNvPr id="8" name="Straight Arrow Connector 7"/>
          <p:cNvCxnSpPr>
            <a:stCxn id="5" idx="1"/>
            <a:endCxn id="13" idx="0"/>
          </p:cNvCxnSpPr>
          <p:nvPr/>
        </p:nvCxnSpPr>
        <p:spPr>
          <a:xfrm flipH="1">
            <a:off x="6659880" y="1108591"/>
            <a:ext cx="483870" cy="331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91050" y="2542464"/>
            <a:ext cx="14859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GRADES</a:t>
            </a:r>
            <a:endParaRPr lang="en-PH" dirty="0"/>
          </a:p>
        </p:txBody>
      </p:sp>
      <p:cxnSp>
        <p:nvCxnSpPr>
          <p:cNvPr id="16" name="Straight Arrow Connector 15"/>
          <p:cNvCxnSpPr>
            <a:stCxn id="14" idx="2"/>
            <a:endCxn id="22" idx="0"/>
          </p:cNvCxnSpPr>
          <p:nvPr/>
        </p:nvCxnSpPr>
        <p:spPr>
          <a:xfrm>
            <a:off x="5334000" y="2325291"/>
            <a:ext cx="0" cy="217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105150" y="3081542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passed</a:t>
            </a:r>
            <a:endParaRPr lang="en-PH" dirty="0"/>
          </a:p>
        </p:txBody>
      </p:sp>
      <p:sp>
        <p:nvSpPr>
          <p:cNvPr id="24" name="TextBox 23"/>
          <p:cNvSpPr txBox="1"/>
          <p:nvPr/>
        </p:nvSpPr>
        <p:spPr>
          <a:xfrm>
            <a:off x="6076950" y="3081542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failed</a:t>
            </a:r>
            <a:endParaRPr lang="en-PH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2"/>
          <a:srcRect t="40557" b="39650"/>
          <a:stretch/>
        </p:blipFill>
        <p:spPr>
          <a:xfrm>
            <a:off x="6186618" y="3620620"/>
            <a:ext cx="5844000" cy="524256"/>
          </a:xfrm>
          <a:prstGeom prst="rect">
            <a:avLst/>
          </a:prstGeom>
        </p:spPr>
      </p:pic>
      <p:cxnSp>
        <p:nvCxnSpPr>
          <p:cNvPr id="26" name="Straight Arrow Connector 25"/>
          <p:cNvCxnSpPr>
            <a:stCxn id="22" idx="1"/>
            <a:endCxn id="23" idx="0"/>
          </p:cNvCxnSpPr>
          <p:nvPr/>
        </p:nvCxnSpPr>
        <p:spPr>
          <a:xfrm flipH="1">
            <a:off x="3848100" y="2727130"/>
            <a:ext cx="742950" cy="354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2" idx="3"/>
            <a:endCxn id="24" idx="0"/>
          </p:cNvCxnSpPr>
          <p:nvPr/>
        </p:nvCxnSpPr>
        <p:spPr>
          <a:xfrm>
            <a:off x="6076950" y="2727130"/>
            <a:ext cx="742950" cy="354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07818" y="191193"/>
            <a:ext cx="2094807" cy="4580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COMPUTE</a:t>
            </a:r>
            <a:endParaRPr lang="en-PH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858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8078" y="356517"/>
            <a:ext cx="901931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DOCUMENTS</a:t>
            </a:r>
            <a:endParaRPr lang="en-PH"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5196147" y="700867"/>
            <a:ext cx="901931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complete</a:t>
            </a:r>
            <a:endParaRPr lang="en-PH" sz="1000" dirty="0"/>
          </a:p>
        </p:txBody>
      </p:sp>
      <p:sp>
        <p:nvSpPr>
          <p:cNvPr id="6" name="TextBox 5"/>
          <p:cNvSpPr txBox="1"/>
          <p:nvPr/>
        </p:nvSpPr>
        <p:spPr>
          <a:xfrm>
            <a:off x="7000009" y="705835"/>
            <a:ext cx="901931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incomplete</a:t>
            </a:r>
            <a:endParaRPr lang="en-PH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491768" y="86587"/>
            <a:ext cx="2114550" cy="24622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Eligible: y=2, n=25</a:t>
            </a:r>
            <a:endParaRPr lang="en-PH" sz="1000" dirty="0"/>
          </a:p>
        </p:txBody>
      </p:sp>
      <p:sp>
        <p:nvSpPr>
          <p:cNvPr id="18" name="TextBox 17"/>
          <p:cNvSpPr txBox="1"/>
          <p:nvPr/>
        </p:nvSpPr>
        <p:spPr>
          <a:xfrm>
            <a:off x="2105025" y="4670438"/>
            <a:ext cx="2114550" cy="6463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y=2, n=1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split further</a:t>
            </a:r>
            <a:endParaRPr lang="en-PH" b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28285" y="4670437"/>
            <a:ext cx="2114550" cy="6463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n=3</a:t>
            </a:r>
          </a:p>
          <a:p>
            <a:pPr algn="ctr"/>
            <a:r>
              <a:rPr lang="en-US" b="1" dirty="0" smtClean="0">
                <a:solidFill>
                  <a:schemeClr val="accent6"/>
                </a:solidFill>
              </a:rPr>
              <a:t>pure subset</a:t>
            </a:r>
            <a:endParaRPr lang="en-PH" b="1" dirty="0">
              <a:solidFill>
                <a:schemeClr val="accent6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96147" y="1151269"/>
            <a:ext cx="901931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TUITION</a:t>
            </a:r>
            <a:endParaRPr lang="en-PH" sz="1000" dirty="0"/>
          </a:p>
        </p:txBody>
      </p:sp>
      <p:sp>
        <p:nvSpPr>
          <p:cNvPr id="14" name="TextBox 13"/>
          <p:cNvSpPr txBox="1"/>
          <p:nvPr/>
        </p:nvSpPr>
        <p:spPr>
          <a:xfrm>
            <a:off x="4294216" y="1578631"/>
            <a:ext cx="901931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p&gt;=50%</a:t>
            </a:r>
            <a:endParaRPr lang="en-PH" sz="1000" dirty="0"/>
          </a:p>
        </p:txBody>
      </p:sp>
      <p:sp>
        <p:nvSpPr>
          <p:cNvPr id="15" name="TextBox 14"/>
          <p:cNvSpPr txBox="1"/>
          <p:nvPr/>
        </p:nvSpPr>
        <p:spPr>
          <a:xfrm>
            <a:off x="6098077" y="1542707"/>
            <a:ext cx="901931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p&lt;50%</a:t>
            </a:r>
            <a:endParaRPr lang="en-PH" sz="10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"/>
          <a:srcRect b="80381"/>
          <a:stretch/>
        </p:blipFill>
        <p:spPr>
          <a:xfrm>
            <a:off x="361885" y="3816287"/>
            <a:ext cx="5600830" cy="49801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294216" y="1972602"/>
            <a:ext cx="901931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GRADES</a:t>
            </a:r>
            <a:endParaRPr lang="en-PH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3392285" y="2310040"/>
            <a:ext cx="901931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passed</a:t>
            </a:r>
            <a:endParaRPr lang="en-PH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5196147" y="2310041"/>
            <a:ext cx="901931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failed</a:t>
            </a:r>
            <a:endParaRPr lang="en-PH" sz="1000" dirty="0"/>
          </a:p>
        </p:txBody>
      </p:sp>
      <p:sp>
        <p:nvSpPr>
          <p:cNvPr id="27" name="TextBox 26"/>
          <p:cNvSpPr txBox="1"/>
          <p:nvPr/>
        </p:nvSpPr>
        <p:spPr>
          <a:xfrm>
            <a:off x="3392284" y="2661549"/>
            <a:ext cx="901931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CLEARANCE</a:t>
            </a:r>
            <a:endParaRPr lang="en-PH" sz="1000" dirty="0"/>
          </a:p>
        </p:txBody>
      </p:sp>
      <p:sp>
        <p:nvSpPr>
          <p:cNvPr id="29" name="TextBox 28"/>
          <p:cNvSpPr txBox="1"/>
          <p:nvPr/>
        </p:nvSpPr>
        <p:spPr>
          <a:xfrm>
            <a:off x="2490353" y="3052136"/>
            <a:ext cx="901931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accomplished</a:t>
            </a:r>
            <a:endParaRPr lang="en-PH" sz="1000" dirty="0"/>
          </a:p>
        </p:txBody>
      </p:sp>
      <p:sp>
        <p:nvSpPr>
          <p:cNvPr id="30" name="TextBox 29"/>
          <p:cNvSpPr txBox="1"/>
          <p:nvPr/>
        </p:nvSpPr>
        <p:spPr>
          <a:xfrm>
            <a:off x="4294216" y="3063164"/>
            <a:ext cx="1125682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not accomplished</a:t>
            </a:r>
            <a:endParaRPr lang="en-PH" sz="100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2"/>
          <a:srcRect t="19820" b="60360"/>
          <a:stretch/>
        </p:blipFill>
        <p:spPr>
          <a:xfrm>
            <a:off x="6098077" y="3811184"/>
            <a:ext cx="5600830" cy="503121"/>
          </a:xfrm>
          <a:prstGeom prst="rect">
            <a:avLst/>
          </a:prstGeom>
        </p:spPr>
      </p:pic>
      <p:cxnSp>
        <p:nvCxnSpPr>
          <p:cNvPr id="11" name="Straight Arrow Connector 10"/>
          <p:cNvCxnSpPr>
            <a:stCxn id="4" idx="1"/>
            <a:endCxn id="5" idx="0"/>
          </p:cNvCxnSpPr>
          <p:nvPr/>
        </p:nvCxnSpPr>
        <p:spPr>
          <a:xfrm flipH="1">
            <a:off x="5647113" y="479628"/>
            <a:ext cx="450965" cy="221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4" idx="3"/>
            <a:endCxn id="6" idx="0"/>
          </p:cNvCxnSpPr>
          <p:nvPr/>
        </p:nvCxnSpPr>
        <p:spPr>
          <a:xfrm>
            <a:off x="7000009" y="479628"/>
            <a:ext cx="450966" cy="226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5" idx="2"/>
            <a:endCxn id="13" idx="0"/>
          </p:cNvCxnSpPr>
          <p:nvPr/>
        </p:nvCxnSpPr>
        <p:spPr>
          <a:xfrm>
            <a:off x="5647113" y="947088"/>
            <a:ext cx="0" cy="204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3" idx="1"/>
            <a:endCxn id="14" idx="0"/>
          </p:cNvCxnSpPr>
          <p:nvPr/>
        </p:nvCxnSpPr>
        <p:spPr>
          <a:xfrm flipH="1">
            <a:off x="4745182" y="1274380"/>
            <a:ext cx="450965" cy="304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3" idx="3"/>
            <a:endCxn id="15" idx="0"/>
          </p:cNvCxnSpPr>
          <p:nvPr/>
        </p:nvCxnSpPr>
        <p:spPr>
          <a:xfrm>
            <a:off x="6098078" y="1274380"/>
            <a:ext cx="450965" cy="268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4" idx="2"/>
            <a:endCxn id="22" idx="0"/>
          </p:cNvCxnSpPr>
          <p:nvPr/>
        </p:nvCxnSpPr>
        <p:spPr>
          <a:xfrm>
            <a:off x="4745182" y="1824852"/>
            <a:ext cx="0" cy="147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2" idx="1"/>
            <a:endCxn id="23" idx="0"/>
          </p:cNvCxnSpPr>
          <p:nvPr/>
        </p:nvCxnSpPr>
        <p:spPr>
          <a:xfrm flipH="1">
            <a:off x="3843251" y="2095713"/>
            <a:ext cx="450965" cy="214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2" idx="3"/>
            <a:endCxn id="24" idx="0"/>
          </p:cNvCxnSpPr>
          <p:nvPr/>
        </p:nvCxnSpPr>
        <p:spPr>
          <a:xfrm>
            <a:off x="5196147" y="2095713"/>
            <a:ext cx="450966" cy="214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23" idx="2"/>
            <a:endCxn id="27" idx="0"/>
          </p:cNvCxnSpPr>
          <p:nvPr/>
        </p:nvCxnSpPr>
        <p:spPr>
          <a:xfrm flipH="1">
            <a:off x="3843250" y="2556261"/>
            <a:ext cx="1" cy="105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27" idx="1"/>
            <a:endCxn id="29" idx="0"/>
          </p:cNvCxnSpPr>
          <p:nvPr/>
        </p:nvCxnSpPr>
        <p:spPr>
          <a:xfrm flipH="1">
            <a:off x="2941319" y="2784660"/>
            <a:ext cx="450965" cy="267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27" idx="3"/>
            <a:endCxn id="30" idx="0"/>
          </p:cNvCxnSpPr>
          <p:nvPr/>
        </p:nvCxnSpPr>
        <p:spPr>
          <a:xfrm>
            <a:off x="4294215" y="2784660"/>
            <a:ext cx="562842" cy="278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296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8078" y="356517"/>
            <a:ext cx="901931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DOCUMENTS</a:t>
            </a:r>
            <a:endParaRPr lang="en-PH"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5196147" y="700867"/>
            <a:ext cx="901931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complete</a:t>
            </a:r>
            <a:endParaRPr lang="en-PH" sz="1000" dirty="0"/>
          </a:p>
        </p:txBody>
      </p:sp>
      <p:sp>
        <p:nvSpPr>
          <p:cNvPr id="6" name="TextBox 5"/>
          <p:cNvSpPr txBox="1"/>
          <p:nvPr/>
        </p:nvSpPr>
        <p:spPr>
          <a:xfrm>
            <a:off x="7000009" y="705835"/>
            <a:ext cx="901931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incomplete</a:t>
            </a:r>
            <a:endParaRPr lang="en-PH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491768" y="86587"/>
            <a:ext cx="2114550" cy="24622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Eligible: y=2, n=25</a:t>
            </a:r>
            <a:endParaRPr lang="en-PH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8620720" y="4763785"/>
            <a:ext cx="2114550" cy="6463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n=1</a:t>
            </a:r>
          </a:p>
          <a:p>
            <a:pPr algn="ctr"/>
            <a:r>
              <a:rPr lang="en-US" b="1" dirty="0" smtClean="0">
                <a:solidFill>
                  <a:schemeClr val="accent6"/>
                </a:solidFill>
              </a:rPr>
              <a:t>pure subset</a:t>
            </a:r>
            <a:endParaRPr lang="en-PH" b="1" dirty="0">
              <a:solidFill>
                <a:schemeClr val="accent6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96147" y="1151269"/>
            <a:ext cx="901931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TUITION</a:t>
            </a:r>
            <a:endParaRPr lang="en-PH" sz="1000" dirty="0"/>
          </a:p>
        </p:txBody>
      </p:sp>
      <p:sp>
        <p:nvSpPr>
          <p:cNvPr id="14" name="TextBox 13"/>
          <p:cNvSpPr txBox="1"/>
          <p:nvPr/>
        </p:nvSpPr>
        <p:spPr>
          <a:xfrm>
            <a:off x="4294216" y="1578631"/>
            <a:ext cx="901931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p&gt;=50%</a:t>
            </a:r>
            <a:endParaRPr lang="en-PH" sz="1000" dirty="0"/>
          </a:p>
        </p:txBody>
      </p:sp>
      <p:sp>
        <p:nvSpPr>
          <p:cNvPr id="15" name="TextBox 14"/>
          <p:cNvSpPr txBox="1"/>
          <p:nvPr/>
        </p:nvSpPr>
        <p:spPr>
          <a:xfrm>
            <a:off x="6098077" y="1542707"/>
            <a:ext cx="901931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p&lt;50%</a:t>
            </a:r>
            <a:endParaRPr lang="en-PH" sz="10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"/>
          <a:srcRect r="22017" b="93846"/>
          <a:stretch/>
        </p:blipFill>
        <p:spPr>
          <a:xfrm>
            <a:off x="166301" y="4202286"/>
            <a:ext cx="3935955" cy="26377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294216" y="1972602"/>
            <a:ext cx="901931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GRADES</a:t>
            </a:r>
            <a:endParaRPr lang="en-PH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3392285" y="2310040"/>
            <a:ext cx="901931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passed</a:t>
            </a:r>
            <a:endParaRPr lang="en-PH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5196147" y="2310041"/>
            <a:ext cx="901931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failed</a:t>
            </a:r>
            <a:endParaRPr lang="en-PH" sz="1000" dirty="0"/>
          </a:p>
        </p:txBody>
      </p:sp>
      <p:sp>
        <p:nvSpPr>
          <p:cNvPr id="27" name="TextBox 26"/>
          <p:cNvSpPr txBox="1"/>
          <p:nvPr/>
        </p:nvSpPr>
        <p:spPr>
          <a:xfrm>
            <a:off x="3392284" y="2661549"/>
            <a:ext cx="901931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CLEARANCE</a:t>
            </a:r>
            <a:endParaRPr lang="en-PH" sz="1000" dirty="0"/>
          </a:p>
        </p:txBody>
      </p:sp>
      <p:sp>
        <p:nvSpPr>
          <p:cNvPr id="29" name="TextBox 28"/>
          <p:cNvSpPr txBox="1"/>
          <p:nvPr/>
        </p:nvSpPr>
        <p:spPr>
          <a:xfrm>
            <a:off x="2490353" y="3052136"/>
            <a:ext cx="901931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accomplished</a:t>
            </a:r>
            <a:endParaRPr lang="en-PH" sz="1000" dirty="0"/>
          </a:p>
        </p:txBody>
      </p:sp>
      <p:sp>
        <p:nvSpPr>
          <p:cNvPr id="30" name="TextBox 29"/>
          <p:cNvSpPr txBox="1"/>
          <p:nvPr/>
        </p:nvSpPr>
        <p:spPr>
          <a:xfrm>
            <a:off x="4294216" y="3063164"/>
            <a:ext cx="1125682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not accomplished</a:t>
            </a:r>
            <a:endParaRPr lang="en-PH" sz="1000" dirty="0"/>
          </a:p>
        </p:txBody>
      </p:sp>
      <p:cxnSp>
        <p:nvCxnSpPr>
          <p:cNvPr id="11" name="Straight Arrow Connector 10"/>
          <p:cNvCxnSpPr>
            <a:stCxn id="4" idx="1"/>
            <a:endCxn id="5" idx="0"/>
          </p:cNvCxnSpPr>
          <p:nvPr/>
        </p:nvCxnSpPr>
        <p:spPr>
          <a:xfrm flipH="1">
            <a:off x="5647113" y="479628"/>
            <a:ext cx="450965" cy="221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4" idx="3"/>
            <a:endCxn id="6" idx="0"/>
          </p:cNvCxnSpPr>
          <p:nvPr/>
        </p:nvCxnSpPr>
        <p:spPr>
          <a:xfrm>
            <a:off x="7000009" y="479628"/>
            <a:ext cx="450966" cy="226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5" idx="2"/>
            <a:endCxn id="13" idx="0"/>
          </p:cNvCxnSpPr>
          <p:nvPr/>
        </p:nvCxnSpPr>
        <p:spPr>
          <a:xfrm>
            <a:off x="5647113" y="947088"/>
            <a:ext cx="0" cy="204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3" idx="1"/>
            <a:endCxn id="14" idx="0"/>
          </p:cNvCxnSpPr>
          <p:nvPr/>
        </p:nvCxnSpPr>
        <p:spPr>
          <a:xfrm flipH="1">
            <a:off x="4745182" y="1274380"/>
            <a:ext cx="450965" cy="304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3" idx="3"/>
            <a:endCxn id="15" idx="0"/>
          </p:cNvCxnSpPr>
          <p:nvPr/>
        </p:nvCxnSpPr>
        <p:spPr>
          <a:xfrm>
            <a:off x="6098078" y="1274380"/>
            <a:ext cx="450965" cy="268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4" idx="2"/>
            <a:endCxn id="22" idx="0"/>
          </p:cNvCxnSpPr>
          <p:nvPr/>
        </p:nvCxnSpPr>
        <p:spPr>
          <a:xfrm>
            <a:off x="4745182" y="1824852"/>
            <a:ext cx="0" cy="147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2" idx="1"/>
            <a:endCxn id="23" idx="0"/>
          </p:cNvCxnSpPr>
          <p:nvPr/>
        </p:nvCxnSpPr>
        <p:spPr>
          <a:xfrm flipH="1">
            <a:off x="3843251" y="2095713"/>
            <a:ext cx="450965" cy="214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2" idx="3"/>
            <a:endCxn id="24" idx="0"/>
          </p:cNvCxnSpPr>
          <p:nvPr/>
        </p:nvCxnSpPr>
        <p:spPr>
          <a:xfrm>
            <a:off x="5196147" y="2095713"/>
            <a:ext cx="450966" cy="214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23" idx="2"/>
            <a:endCxn id="27" idx="0"/>
          </p:cNvCxnSpPr>
          <p:nvPr/>
        </p:nvCxnSpPr>
        <p:spPr>
          <a:xfrm flipH="1">
            <a:off x="3843250" y="2556261"/>
            <a:ext cx="1" cy="105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27" idx="1"/>
            <a:endCxn id="29" idx="0"/>
          </p:cNvCxnSpPr>
          <p:nvPr/>
        </p:nvCxnSpPr>
        <p:spPr>
          <a:xfrm flipH="1">
            <a:off x="2941319" y="2784660"/>
            <a:ext cx="450965" cy="267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27" idx="3"/>
            <a:endCxn id="30" idx="0"/>
          </p:cNvCxnSpPr>
          <p:nvPr/>
        </p:nvCxnSpPr>
        <p:spPr>
          <a:xfrm>
            <a:off x="4294215" y="2784660"/>
            <a:ext cx="562842" cy="278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/>
          <p:cNvPicPr>
            <a:picLocks noChangeAspect="1"/>
          </p:cNvPicPr>
          <p:nvPr/>
        </p:nvPicPr>
        <p:blipFill rotWithShape="1">
          <a:blip r:embed="rId2"/>
          <a:srcRect t="7393" r="21859" b="87547"/>
          <a:stretch/>
        </p:blipFill>
        <p:spPr>
          <a:xfrm>
            <a:off x="3717692" y="4716480"/>
            <a:ext cx="4309805" cy="24194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295349" y="3442722"/>
            <a:ext cx="1291938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COURSE SELECTION</a:t>
            </a:r>
            <a:endParaRPr lang="en-PH" sz="1000" dirty="0"/>
          </a:p>
        </p:txBody>
      </p:sp>
      <p:sp>
        <p:nvSpPr>
          <p:cNvPr id="36" name="TextBox 35"/>
          <p:cNvSpPr txBox="1"/>
          <p:nvPr/>
        </p:nvSpPr>
        <p:spPr>
          <a:xfrm>
            <a:off x="1393418" y="3819707"/>
            <a:ext cx="901931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Confirmed</a:t>
            </a:r>
            <a:endParaRPr lang="en-PH" sz="1000" dirty="0"/>
          </a:p>
        </p:txBody>
      </p:sp>
      <p:sp>
        <p:nvSpPr>
          <p:cNvPr id="38" name="TextBox 37"/>
          <p:cNvSpPr txBox="1"/>
          <p:nvPr/>
        </p:nvSpPr>
        <p:spPr>
          <a:xfrm>
            <a:off x="5775092" y="3819706"/>
            <a:ext cx="1096935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Not Applicable</a:t>
            </a:r>
            <a:endParaRPr lang="en-PH" sz="1000" dirty="0"/>
          </a:p>
        </p:txBody>
      </p:sp>
      <p:sp>
        <p:nvSpPr>
          <p:cNvPr id="40" name="TextBox 39"/>
          <p:cNvSpPr txBox="1"/>
          <p:nvPr/>
        </p:nvSpPr>
        <p:spPr>
          <a:xfrm>
            <a:off x="9323068" y="3819706"/>
            <a:ext cx="1096935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Selection Open</a:t>
            </a:r>
            <a:endParaRPr lang="en-PH" sz="1000" dirty="0"/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/>
          <a:srcRect t="13385" r="22128" b="80065"/>
          <a:stretch/>
        </p:blipFill>
        <p:spPr>
          <a:xfrm>
            <a:off x="7606318" y="4253633"/>
            <a:ext cx="4143355" cy="32244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362623" y="5173224"/>
            <a:ext cx="2114550" cy="6463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y</a:t>
            </a:r>
            <a:r>
              <a:rPr lang="en-US" dirty="0" smtClean="0"/>
              <a:t>=1</a:t>
            </a:r>
          </a:p>
          <a:p>
            <a:pPr algn="ctr"/>
            <a:r>
              <a:rPr lang="en-US" b="1" dirty="0" smtClean="0">
                <a:solidFill>
                  <a:schemeClr val="accent6"/>
                </a:solidFill>
              </a:rPr>
              <a:t>pure subset</a:t>
            </a:r>
            <a:endParaRPr lang="en-PH" b="1" dirty="0">
              <a:solidFill>
                <a:schemeClr val="accent6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87108" y="5090257"/>
            <a:ext cx="2114550" cy="6463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y</a:t>
            </a:r>
            <a:r>
              <a:rPr lang="en-US" dirty="0" smtClean="0"/>
              <a:t>=1</a:t>
            </a:r>
          </a:p>
          <a:p>
            <a:pPr algn="ctr"/>
            <a:r>
              <a:rPr lang="en-US" b="1" dirty="0" smtClean="0">
                <a:solidFill>
                  <a:schemeClr val="accent6"/>
                </a:solidFill>
              </a:rPr>
              <a:t>pure subset</a:t>
            </a:r>
            <a:endParaRPr lang="en-PH" b="1" dirty="0">
              <a:solidFill>
                <a:schemeClr val="accent6"/>
              </a:solidFill>
            </a:endParaRPr>
          </a:p>
        </p:txBody>
      </p:sp>
      <p:cxnSp>
        <p:nvCxnSpPr>
          <p:cNvPr id="3" name="Straight Arrow Connector 2"/>
          <p:cNvCxnSpPr>
            <a:stCxn id="29" idx="2"/>
            <a:endCxn id="34" idx="0"/>
          </p:cNvCxnSpPr>
          <p:nvPr/>
        </p:nvCxnSpPr>
        <p:spPr>
          <a:xfrm flipH="1">
            <a:off x="2941318" y="3298357"/>
            <a:ext cx="1" cy="144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34" idx="1"/>
            <a:endCxn id="36" idx="0"/>
          </p:cNvCxnSpPr>
          <p:nvPr/>
        </p:nvCxnSpPr>
        <p:spPr>
          <a:xfrm flipH="1">
            <a:off x="1844384" y="3565833"/>
            <a:ext cx="450965" cy="253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34" idx="2"/>
            <a:endCxn id="38" idx="0"/>
          </p:cNvCxnSpPr>
          <p:nvPr/>
        </p:nvCxnSpPr>
        <p:spPr>
          <a:xfrm>
            <a:off x="2941318" y="3688943"/>
            <a:ext cx="3382242" cy="130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34" idx="3"/>
            <a:endCxn id="40" idx="0"/>
          </p:cNvCxnSpPr>
          <p:nvPr/>
        </p:nvCxnSpPr>
        <p:spPr>
          <a:xfrm>
            <a:off x="3587287" y="3565833"/>
            <a:ext cx="6284249" cy="2538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43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52475" y="495300"/>
            <a:ext cx="316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TRAINING DATA SET</a:t>
            </a:r>
            <a:endParaRPr lang="en-PH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088" y="1033025"/>
            <a:ext cx="7977188" cy="531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642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43525" y="733425"/>
            <a:ext cx="14859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DOCUMENTS</a:t>
            </a:r>
            <a:endParaRPr lang="en-PH" dirty="0"/>
          </a:p>
        </p:txBody>
      </p:sp>
      <p:sp>
        <p:nvSpPr>
          <p:cNvPr id="5" name="TextBox 4"/>
          <p:cNvSpPr txBox="1"/>
          <p:nvPr/>
        </p:nvSpPr>
        <p:spPr>
          <a:xfrm>
            <a:off x="3857625" y="1192768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complete</a:t>
            </a:r>
            <a:endParaRPr lang="en-PH" dirty="0"/>
          </a:p>
        </p:txBody>
      </p:sp>
      <p:sp>
        <p:nvSpPr>
          <p:cNvPr id="6" name="TextBox 5"/>
          <p:cNvSpPr txBox="1"/>
          <p:nvPr/>
        </p:nvSpPr>
        <p:spPr>
          <a:xfrm>
            <a:off x="6829425" y="1192768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incomplete</a:t>
            </a:r>
            <a:endParaRPr lang="en-PH" dirty="0"/>
          </a:p>
        </p:txBody>
      </p:sp>
      <p:sp>
        <p:nvSpPr>
          <p:cNvPr id="7" name="TextBox 6"/>
          <p:cNvSpPr txBox="1"/>
          <p:nvPr/>
        </p:nvSpPr>
        <p:spPr>
          <a:xfrm>
            <a:off x="5029200" y="268843"/>
            <a:ext cx="2114550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Eligible: y=2, n=25</a:t>
            </a:r>
            <a:endParaRPr lang="en-PH" dirty="0"/>
          </a:p>
        </p:txBody>
      </p:sp>
      <p:cxnSp>
        <p:nvCxnSpPr>
          <p:cNvPr id="9" name="Straight Arrow Connector 8"/>
          <p:cNvCxnSpPr>
            <a:stCxn id="4" idx="1"/>
            <a:endCxn id="5" idx="0"/>
          </p:cNvCxnSpPr>
          <p:nvPr/>
        </p:nvCxnSpPr>
        <p:spPr>
          <a:xfrm flipH="1">
            <a:off x="4600575" y="918091"/>
            <a:ext cx="742950" cy="274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4" idx="3"/>
            <a:endCxn id="6" idx="0"/>
          </p:cNvCxnSpPr>
          <p:nvPr/>
        </p:nvCxnSpPr>
        <p:spPr>
          <a:xfrm>
            <a:off x="6829425" y="918091"/>
            <a:ext cx="742950" cy="274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8" y="1952624"/>
            <a:ext cx="5415402" cy="20288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072" y="1952624"/>
            <a:ext cx="6044903" cy="1981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026664" y="4002641"/>
            <a:ext cx="2114550" cy="6463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y=2, n=13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split further</a:t>
            </a:r>
            <a:endParaRPr lang="en-PH" b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15325" y="4002641"/>
            <a:ext cx="2114550" cy="6463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n=12</a:t>
            </a:r>
          </a:p>
          <a:p>
            <a:pPr algn="ctr"/>
            <a:r>
              <a:rPr lang="en-US" b="1" dirty="0" smtClean="0">
                <a:solidFill>
                  <a:schemeClr val="accent6"/>
                </a:solidFill>
              </a:rPr>
              <a:t>pure subset</a:t>
            </a:r>
            <a:endParaRPr lang="en-PH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136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43525" y="733425"/>
            <a:ext cx="14859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DOCUMENTS</a:t>
            </a:r>
            <a:endParaRPr lang="en-PH" dirty="0"/>
          </a:p>
        </p:txBody>
      </p:sp>
      <p:sp>
        <p:nvSpPr>
          <p:cNvPr id="5" name="TextBox 4"/>
          <p:cNvSpPr txBox="1"/>
          <p:nvPr/>
        </p:nvSpPr>
        <p:spPr>
          <a:xfrm>
            <a:off x="3857625" y="1192768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complete</a:t>
            </a:r>
            <a:endParaRPr lang="en-PH" dirty="0"/>
          </a:p>
        </p:txBody>
      </p:sp>
      <p:sp>
        <p:nvSpPr>
          <p:cNvPr id="6" name="TextBox 5"/>
          <p:cNvSpPr txBox="1"/>
          <p:nvPr/>
        </p:nvSpPr>
        <p:spPr>
          <a:xfrm>
            <a:off x="6829425" y="1192768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incomplete</a:t>
            </a:r>
            <a:endParaRPr lang="en-PH" dirty="0"/>
          </a:p>
        </p:txBody>
      </p:sp>
      <p:sp>
        <p:nvSpPr>
          <p:cNvPr id="7" name="TextBox 6"/>
          <p:cNvSpPr txBox="1"/>
          <p:nvPr/>
        </p:nvSpPr>
        <p:spPr>
          <a:xfrm>
            <a:off x="5029200" y="268843"/>
            <a:ext cx="2114550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Eligible: y=2, n=25</a:t>
            </a:r>
            <a:endParaRPr lang="en-PH" dirty="0"/>
          </a:p>
        </p:txBody>
      </p:sp>
      <p:cxnSp>
        <p:nvCxnSpPr>
          <p:cNvPr id="9" name="Straight Arrow Connector 8"/>
          <p:cNvCxnSpPr>
            <a:stCxn id="4" idx="1"/>
            <a:endCxn id="5" idx="0"/>
          </p:cNvCxnSpPr>
          <p:nvPr/>
        </p:nvCxnSpPr>
        <p:spPr>
          <a:xfrm flipH="1">
            <a:off x="4600575" y="918091"/>
            <a:ext cx="742950" cy="274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4" idx="3"/>
            <a:endCxn id="6" idx="0"/>
          </p:cNvCxnSpPr>
          <p:nvPr/>
        </p:nvCxnSpPr>
        <p:spPr>
          <a:xfrm>
            <a:off x="6829425" y="918091"/>
            <a:ext cx="742950" cy="274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24863" y="4649649"/>
            <a:ext cx="2114550" cy="6463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y=2, n=7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split further</a:t>
            </a:r>
            <a:endParaRPr lang="en-PH" b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80243" y="4132874"/>
            <a:ext cx="2114550" cy="6463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n=6</a:t>
            </a:r>
          </a:p>
          <a:p>
            <a:pPr algn="ctr"/>
            <a:r>
              <a:rPr lang="en-US" b="1" dirty="0" smtClean="0">
                <a:solidFill>
                  <a:schemeClr val="accent6"/>
                </a:solidFill>
              </a:rPr>
              <a:t>pure subset</a:t>
            </a:r>
            <a:endParaRPr lang="en-PH" b="1" dirty="0">
              <a:solidFill>
                <a:schemeClr val="accent6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30805" y="1708785"/>
            <a:ext cx="14859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TUITION</a:t>
            </a:r>
            <a:endParaRPr lang="en-PH" dirty="0"/>
          </a:p>
        </p:txBody>
      </p:sp>
      <p:sp>
        <p:nvSpPr>
          <p:cNvPr id="14" name="TextBox 13"/>
          <p:cNvSpPr txBox="1"/>
          <p:nvPr/>
        </p:nvSpPr>
        <p:spPr>
          <a:xfrm>
            <a:off x="1304925" y="2224802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p&gt;=50%</a:t>
            </a:r>
            <a:endParaRPr lang="en-PH" dirty="0"/>
          </a:p>
        </p:txBody>
      </p:sp>
      <p:sp>
        <p:nvSpPr>
          <p:cNvPr id="15" name="TextBox 14"/>
          <p:cNvSpPr txBox="1"/>
          <p:nvPr/>
        </p:nvSpPr>
        <p:spPr>
          <a:xfrm>
            <a:off x="3857625" y="2224802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p&lt;50%</a:t>
            </a:r>
            <a:endParaRPr lang="en-PH" dirty="0"/>
          </a:p>
        </p:txBody>
      </p:sp>
      <p:cxnSp>
        <p:nvCxnSpPr>
          <p:cNvPr id="3" name="Straight Arrow Connector 2"/>
          <p:cNvCxnSpPr>
            <a:stCxn id="13" idx="1"/>
            <a:endCxn id="14" idx="0"/>
          </p:cNvCxnSpPr>
          <p:nvPr/>
        </p:nvCxnSpPr>
        <p:spPr>
          <a:xfrm flipH="1">
            <a:off x="2047875" y="1893451"/>
            <a:ext cx="582930" cy="331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3" idx="3"/>
            <a:endCxn id="15" idx="0"/>
          </p:cNvCxnSpPr>
          <p:nvPr/>
        </p:nvCxnSpPr>
        <p:spPr>
          <a:xfrm>
            <a:off x="4116705" y="1893451"/>
            <a:ext cx="483870" cy="331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"/>
          <a:srcRect b="39650"/>
          <a:stretch/>
        </p:blipFill>
        <p:spPr>
          <a:xfrm>
            <a:off x="60138" y="2765732"/>
            <a:ext cx="5844000" cy="159845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2"/>
          <a:srcRect t="60352"/>
          <a:stretch/>
        </p:blipFill>
        <p:spPr>
          <a:xfrm>
            <a:off x="5946981" y="2772861"/>
            <a:ext cx="6068297" cy="90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78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29650" y="464582"/>
            <a:ext cx="14859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DOCUMENTS</a:t>
            </a:r>
            <a:endParaRPr lang="en-PH" dirty="0"/>
          </a:p>
        </p:txBody>
      </p:sp>
      <p:sp>
        <p:nvSpPr>
          <p:cNvPr id="5" name="TextBox 4"/>
          <p:cNvSpPr txBox="1"/>
          <p:nvPr/>
        </p:nvSpPr>
        <p:spPr>
          <a:xfrm>
            <a:off x="7143750" y="923925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complete</a:t>
            </a:r>
            <a:endParaRPr lang="en-PH" dirty="0"/>
          </a:p>
        </p:txBody>
      </p:sp>
      <p:sp>
        <p:nvSpPr>
          <p:cNvPr id="6" name="TextBox 5"/>
          <p:cNvSpPr txBox="1"/>
          <p:nvPr/>
        </p:nvSpPr>
        <p:spPr>
          <a:xfrm>
            <a:off x="10115550" y="923925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incomplete</a:t>
            </a:r>
            <a:endParaRPr lang="en-PH" dirty="0"/>
          </a:p>
        </p:txBody>
      </p:sp>
      <p:sp>
        <p:nvSpPr>
          <p:cNvPr id="7" name="TextBox 6"/>
          <p:cNvSpPr txBox="1"/>
          <p:nvPr/>
        </p:nvSpPr>
        <p:spPr>
          <a:xfrm>
            <a:off x="8315325" y="0"/>
            <a:ext cx="2114550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Eligible: y=2, n=25</a:t>
            </a:r>
            <a:endParaRPr lang="en-PH" dirty="0"/>
          </a:p>
        </p:txBody>
      </p:sp>
      <p:cxnSp>
        <p:nvCxnSpPr>
          <p:cNvPr id="9" name="Straight Arrow Connector 8"/>
          <p:cNvCxnSpPr>
            <a:stCxn id="4" idx="1"/>
            <a:endCxn id="5" idx="0"/>
          </p:cNvCxnSpPr>
          <p:nvPr/>
        </p:nvCxnSpPr>
        <p:spPr>
          <a:xfrm flipH="1">
            <a:off x="7886700" y="649248"/>
            <a:ext cx="742950" cy="274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4" idx="3"/>
            <a:endCxn id="6" idx="0"/>
          </p:cNvCxnSpPr>
          <p:nvPr/>
        </p:nvCxnSpPr>
        <p:spPr>
          <a:xfrm>
            <a:off x="10115550" y="649248"/>
            <a:ext cx="742950" cy="274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56435" y="4915047"/>
            <a:ext cx="2114550" cy="6463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y=2, n=1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split further</a:t>
            </a:r>
            <a:endParaRPr lang="en-PH" b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46720" y="4915048"/>
            <a:ext cx="2114550" cy="6463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n=6</a:t>
            </a:r>
          </a:p>
          <a:p>
            <a:pPr algn="ctr"/>
            <a:r>
              <a:rPr lang="en-US" b="1" dirty="0" smtClean="0">
                <a:solidFill>
                  <a:schemeClr val="accent6"/>
                </a:solidFill>
              </a:rPr>
              <a:t>pure subset</a:t>
            </a:r>
            <a:endParaRPr lang="en-PH" b="1" dirty="0">
              <a:solidFill>
                <a:schemeClr val="accent6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16930" y="1439942"/>
            <a:ext cx="14859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TUITION</a:t>
            </a:r>
            <a:endParaRPr lang="en-PH" dirty="0"/>
          </a:p>
        </p:txBody>
      </p:sp>
      <p:sp>
        <p:nvSpPr>
          <p:cNvPr id="14" name="TextBox 13"/>
          <p:cNvSpPr txBox="1"/>
          <p:nvPr/>
        </p:nvSpPr>
        <p:spPr>
          <a:xfrm>
            <a:off x="4591050" y="1955959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p&gt;=50%</a:t>
            </a:r>
            <a:endParaRPr lang="en-PH" dirty="0"/>
          </a:p>
        </p:txBody>
      </p:sp>
      <p:sp>
        <p:nvSpPr>
          <p:cNvPr id="15" name="TextBox 14"/>
          <p:cNvSpPr txBox="1"/>
          <p:nvPr/>
        </p:nvSpPr>
        <p:spPr>
          <a:xfrm>
            <a:off x="7143750" y="1955959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p&lt;50%</a:t>
            </a:r>
            <a:endParaRPr lang="en-PH" dirty="0"/>
          </a:p>
        </p:txBody>
      </p:sp>
      <p:cxnSp>
        <p:nvCxnSpPr>
          <p:cNvPr id="3" name="Straight Arrow Connector 2"/>
          <p:cNvCxnSpPr>
            <a:stCxn id="13" idx="1"/>
            <a:endCxn id="14" idx="0"/>
          </p:cNvCxnSpPr>
          <p:nvPr/>
        </p:nvCxnSpPr>
        <p:spPr>
          <a:xfrm flipH="1">
            <a:off x="5334000" y="1624608"/>
            <a:ext cx="582930" cy="331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3" idx="3"/>
            <a:endCxn id="15" idx="0"/>
          </p:cNvCxnSpPr>
          <p:nvPr/>
        </p:nvCxnSpPr>
        <p:spPr>
          <a:xfrm>
            <a:off x="7402830" y="1624608"/>
            <a:ext cx="483870" cy="331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5" idx="1"/>
            <a:endCxn id="13" idx="0"/>
          </p:cNvCxnSpPr>
          <p:nvPr/>
        </p:nvCxnSpPr>
        <p:spPr>
          <a:xfrm flipH="1">
            <a:off x="6659880" y="1108591"/>
            <a:ext cx="483870" cy="331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91050" y="2542464"/>
            <a:ext cx="14859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CLEARANCE</a:t>
            </a:r>
            <a:endParaRPr lang="en-PH" dirty="0"/>
          </a:p>
        </p:txBody>
      </p:sp>
      <p:cxnSp>
        <p:nvCxnSpPr>
          <p:cNvPr id="16" name="Straight Arrow Connector 15"/>
          <p:cNvCxnSpPr>
            <a:stCxn id="14" idx="2"/>
            <a:endCxn id="22" idx="0"/>
          </p:cNvCxnSpPr>
          <p:nvPr/>
        </p:nvCxnSpPr>
        <p:spPr>
          <a:xfrm>
            <a:off x="5334000" y="2325291"/>
            <a:ext cx="0" cy="217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105150" y="3081542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accomplished</a:t>
            </a:r>
            <a:endParaRPr lang="en-PH" dirty="0"/>
          </a:p>
        </p:txBody>
      </p:sp>
      <p:sp>
        <p:nvSpPr>
          <p:cNvPr id="24" name="TextBox 23"/>
          <p:cNvSpPr txBox="1"/>
          <p:nvPr/>
        </p:nvSpPr>
        <p:spPr>
          <a:xfrm>
            <a:off x="6076950" y="3081542"/>
            <a:ext cx="19697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not accomplished</a:t>
            </a:r>
            <a:endParaRPr lang="en-PH" dirty="0"/>
          </a:p>
        </p:txBody>
      </p:sp>
      <p:cxnSp>
        <p:nvCxnSpPr>
          <p:cNvPr id="26" name="Straight Arrow Connector 25"/>
          <p:cNvCxnSpPr>
            <a:stCxn id="22" idx="1"/>
            <a:endCxn id="23" idx="0"/>
          </p:cNvCxnSpPr>
          <p:nvPr/>
        </p:nvCxnSpPr>
        <p:spPr>
          <a:xfrm flipH="1">
            <a:off x="3848100" y="2727130"/>
            <a:ext cx="742950" cy="354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2" idx="3"/>
            <a:endCxn id="24" idx="0"/>
          </p:cNvCxnSpPr>
          <p:nvPr/>
        </p:nvCxnSpPr>
        <p:spPr>
          <a:xfrm>
            <a:off x="6076950" y="2727130"/>
            <a:ext cx="742950" cy="354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/>
          <a:srcRect b="80834"/>
          <a:stretch/>
        </p:blipFill>
        <p:spPr>
          <a:xfrm>
            <a:off x="443962" y="3687553"/>
            <a:ext cx="5472968" cy="507651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207818" y="191193"/>
            <a:ext cx="2094807" cy="4580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COMPUTE</a:t>
            </a:r>
            <a:endParaRPr lang="en-PH" dirty="0">
              <a:solidFill>
                <a:sysClr val="windowText" lastClr="000000"/>
              </a:solidFill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2"/>
          <a:srcRect t="20006" b="39650"/>
          <a:stretch/>
        </p:blipFill>
        <p:spPr>
          <a:xfrm>
            <a:off x="6076950" y="3668047"/>
            <a:ext cx="5844000" cy="106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102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8078" y="356517"/>
            <a:ext cx="901931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DOCUMENTS</a:t>
            </a:r>
            <a:endParaRPr lang="en-PH"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5196147" y="700867"/>
            <a:ext cx="901931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complete</a:t>
            </a:r>
            <a:endParaRPr lang="en-PH" sz="1000" dirty="0"/>
          </a:p>
        </p:txBody>
      </p:sp>
      <p:sp>
        <p:nvSpPr>
          <p:cNvPr id="6" name="TextBox 5"/>
          <p:cNvSpPr txBox="1"/>
          <p:nvPr/>
        </p:nvSpPr>
        <p:spPr>
          <a:xfrm>
            <a:off x="7000009" y="705835"/>
            <a:ext cx="901931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incomplete</a:t>
            </a:r>
            <a:endParaRPr lang="en-PH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491768" y="86587"/>
            <a:ext cx="2114550" cy="24622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Eligible: y=2, n=25</a:t>
            </a:r>
            <a:endParaRPr lang="en-PH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8620720" y="4763785"/>
            <a:ext cx="2114550" cy="6463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n=1</a:t>
            </a:r>
          </a:p>
          <a:p>
            <a:pPr algn="ctr"/>
            <a:r>
              <a:rPr lang="en-US" b="1" dirty="0" smtClean="0">
                <a:solidFill>
                  <a:schemeClr val="accent6"/>
                </a:solidFill>
              </a:rPr>
              <a:t>pure subset</a:t>
            </a:r>
            <a:endParaRPr lang="en-PH" b="1" dirty="0">
              <a:solidFill>
                <a:schemeClr val="accent6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96147" y="1151269"/>
            <a:ext cx="901931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TUITION</a:t>
            </a:r>
            <a:endParaRPr lang="en-PH" sz="1000" dirty="0"/>
          </a:p>
        </p:txBody>
      </p:sp>
      <p:sp>
        <p:nvSpPr>
          <p:cNvPr id="14" name="TextBox 13"/>
          <p:cNvSpPr txBox="1"/>
          <p:nvPr/>
        </p:nvSpPr>
        <p:spPr>
          <a:xfrm>
            <a:off x="4294216" y="1578631"/>
            <a:ext cx="901931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p&gt;=50%</a:t>
            </a:r>
            <a:endParaRPr lang="en-PH" sz="1000" dirty="0"/>
          </a:p>
        </p:txBody>
      </p:sp>
      <p:sp>
        <p:nvSpPr>
          <p:cNvPr id="15" name="TextBox 14"/>
          <p:cNvSpPr txBox="1"/>
          <p:nvPr/>
        </p:nvSpPr>
        <p:spPr>
          <a:xfrm>
            <a:off x="6098077" y="1542707"/>
            <a:ext cx="901931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p&lt;50%</a:t>
            </a:r>
            <a:endParaRPr lang="en-PH" sz="1000" dirty="0"/>
          </a:p>
        </p:txBody>
      </p:sp>
      <p:sp>
        <p:nvSpPr>
          <p:cNvPr id="27" name="TextBox 26"/>
          <p:cNvSpPr txBox="1"/>
          <p:nvPr/>
        </p:nvSpPr>
        <p:spPr>
          <a:xfrm>
            <a:off x="4294216" y="1972601"/>
            <a:ext cx="901931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CLEARANCE</a:t>
            </a:r>
            <a:endParaRPr lang="en-PH" sz="1000" dirty="0"/>
          </a:p>
        </p:txBody>
      </p:sp>
      <p:sp>
        <p:nvSpPr>
          <p:cNvPr id="29" name="TextBox 28"/>
          <p:cNvSpPr txBox="1"/>
          <p:nvPr/>
        </p:nvSpPr>
        <p:spPr>
          <a:xfrm>
            <a:off x="3392284" y="2323287"/>
            <a:ext cx="901931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accomplished</a:t>
            </a:r>
            <a:endParaRPr lang="en-PH" sz="1000" dirty="0"/>
          </a:p>
        </p:txBody>
      </p:sp>
      <p:sp>
        <p:nvSpPr>
          <p:cNvPr id="30" name="TextBox 29"/>
          <p:cNvSpPr txBox="1"/>
          <p:nvPr/>
        </p:nvSpPr>
        <p:spPr>
          <a:xfrm>
            <a:off x="5225065" y="2337459"/>
            <a:ext cx="1125682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not accomplished</a:t>
            </a:r>
            <a:endParaRPr lang="en-PH" sz="1000" dirty="0"/>
          </a:p>
        </p:txBody>
      </p:sp>
      <p:cxnSp>
        <p:nvCxnSpPr>
          <p:cNvPr id="11" name="Straight Arrow Connector 10"/>
          <p:cNvCxnSpPr>
            <a:stCxn id="4" idx="1"/>
            <a:endCxn id="5" idx="0"/>
          </p:cNvCxnSpPr>
          <p:nvPr/>
        </p:nvCxnSpPr>
        <p:spPr>
          <a:xfrm flipH="1">
            <a:off x="5647113" y="479628"/>
            <a:ext cx="450965" cy="221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4" idx="3"/>
            <a:endCxn id="6" idx="0"/>
          </p:cNvCxnSpPr>
          <p:nvPr/>
        </p:nvCxnSpPr>
        <p:spPr>
          <a:xfrm>
            <a:off x="7000009" y="479628"/>
            <a:ext cx="450966" cy="226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5" idx="2"/>
            <a:endCxn id="13" idx="0"/>
          </p:cNvCxnSpPr>
          <p:nvPr/>
        </p:nvCxnSpPr>
        <p:spPr>
          <a:xfrm>
            <a:off x="5647113" y="947088"/>
            <a:ext cx="0" cy="204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3" idx="1"/>
            <a:endCxn id="14" idx="0"/>
          </p:cNvCxnSpPr>
          <p:nvPr/>
        </p:nvCxnSpPr>
        <p:spPr>
          <a:xfrm flipH="1">
            <a:off x="4745182" y="1274380"/>
            <a:ext cx="450965" cy="304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3" idx="3"/>
            <a:endCxn id="15" idx="0"/>
          </p:cNvCxnSpPr>
          <p:nvPr/>
        </p:nvCxnSpPr>
        <p:spPr>
          <a:xfrm>
            <a:off x="6098078" y="1274380"/>
            <a:ext cx="450965" cy="268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4" idx="2"/>
            <a:endCxn id="22" idx="0"/>
          </p:cNvCxnSpPr>
          <p:nvPr/>
        </p:nvCxnSpPr>
        <p:spPr>
          <a:xfrm>
            <a:off x="4745182" y="1824852"/>
            <a:ext cx="0" cy="147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2" idx="1"/>
            <a:endCxn id="23" idx="0"/>
          </p:cNvCxnSpPr>
          <p:nvPr/>
        </p:nvCxnSpPr>
        <p:spPr>
          <a:xfrm flipH="1">
            <a:off x="3843251" y="2095713"/>
            <a:ext cx="450965" cy="214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2" idx="3"/>
            <a:endCxn id="24" idx="0"/>
          </p:cNvCxnSpPr>
          <p:nvPr/>
        </p:nvCxnSpPr>
        <p:spPr>
          <a:xfrm>
            <a:off x="5196147" y="2095713"/>
            <a:ext cx="450966" cy="214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23" idx="2"/>
            <a:endCxn id="27" idx="0"/>
          </p:cNvCxnSpPr>
          <p:nvPr/>
        </p:nvCxnSpPr>
        <p:spPr>
          <a:xfrm flipH="1">
            <a:off x="3843250" y="2556261"/>
            <a:ext cx="1" cy="105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27" idx="1"/>
            <a:endCxn id="29" idx="0"/>
          </p:cNvCxnSpPr>
          <p:nvPr/>
        </p:nvCxnSpPr>
        <p:spPr>
          <a:xfrm flipH="1">
            <a:off x="2941319" y="2784660"/>
            <a:ext cx="450965" cy="267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27" idx="3"/>
            <a:endCxn id="30" idx="0"/>
          </p:cNvCxnSpPr>
          <p:nvPr/>
        </p:nvCxnSpPr>
        <p:spPr>
          <a:xfrm>
            <a:off x="4294215" y="2784660"/>
            <a:ext cx="562842" cy="278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197281" y="2661193"/>
            <a:ext cx="1291938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COURSE SELECTION</a:t>
            </a:r>
            <a:endParaRPr lang="en-PH" sz="1000" dirty="0"/>
          </a:p>
        </p:txBody>
      </p:sp>
      <p:sp>
        <p:nvSpPr>
          <p:cNvPr id="36" name="TextBox 35"/>
          <p:cNvSpPr txBox="1"/>
          <p:nvPr/>
        </p:nvSpPr>
        <p:spPr>
          <a:xfrm>
            <a:off x="2157123" y="3052136"/>
            <a:ext cx="901931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Confirmed</a:t>
            </a:r>
            <a:endParaRPr lang="en-PH" sz="1000" dirty="0"/>
          </a:p>
        </p:txBody>
      </p:sp>
      <p:sp>
        <p:nvSpPr>
          <p:cNvPr id="38" name="TextBox 37"/>
          <p:cNvSpPr txBox="1"/>
          <p:nvPr/>
        </p:nvSpPr>
        <p:spPr>
          <a:xfrm>
            <a:off x="3294781" y="3387697"/>
            <a:ext cx="1096935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Not Applicable</a:t>
            </a:r>
            <a:endParaRPr lang="en-PH" sz="1000" dirty="0"/>
          </a:p>
        </p:txBody>
      </p:sp>
      <p:sp>
        <p:nvSpPr>
          <p:cNvPr id="40" name="TextBox 39"/>
          <p:cNvSpPr txBox="1"/>
          <p:nvPr/>
        </p:nvSpPr>
        <p:spPr>
          <a:xfrm>
            <a:off x="4724397" y="3126899"/>
            <a:ext cx="1096935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 smtClean="0"/>
              <a:t>Selection Open</a:t>
            </a:r>
            <a:endParaRPr lang="en-PH" sz="1000" dirty="0"/>
          </a:p>
        </p:txBody>
      </p:sp>
      <p:sp>
        <p:nvSpPr>
          <p:cNvPr id="44" name="TextBox 43"/>
          <p:cNvSpPr txBox="1"/>
          <p:nvPr/>
        </p:nvSpPr>
        <p:spPr>
          <a:xfrm>
            <a:off x="4362623" y="5173224"/>
            <a:ext cx="2114550" cy="6463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y</a:t>
            </a:r>
            <a:r>
              <a:rPr lang="en-US" dirty="0" smtClean="0"/>
              <a:t>=1</a:t>
            </a:r>
          </a:p>
          <a:p>
            <a:pPr algn="ctr"/>
            <a:r>
              <a:rPr lang="en-US" b="1" dirty="0" smtClean="0">
                <a:solidFill>
                  <a:schemeClr val="accent6"/>
                </a:solidFill>
              </a:rPr>
              <a:t>pure subset</a:t>
            </a:r>
            <a:endParaRPr lang="en-PH" b="1" dirty="0">
              <a:solidFill>
                <a:schemeClr val="accent6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87108" y="5090257"/>
            <a:ext cx="2114550" cy="6463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y</a:t>
            </a:r>
            <a:r>
              <a:rPr lang="en-US" dirty="0" smtClean="0"/>
              <a:t>=1</a:t>
            </a:r>
          </a:p>
          <a:p>
            <a:pPr algn="ctr"/>
            <a:r>
              <a:rPr lang="en-US" b="1" dirty="0" smtClean="0">
                <a:solidFill>
                  <a:schemeClr val="accent6"/>
                </a:solidFill>
              </a:rPr>
              <a:t>pure subset</a:t>
            </a:r>
            <a:endParaRPr lang="en-PH" b="1" dirty="0">
              <a:solidFill>
                <a:schemeClr val="accent6"/>
              </a:solidFill>
            </a:endParaRP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 rotWithShape="1">
          <a:blip r:embed="rId2"/>
          <a:srcRect r="22017" b="93846"/>
          <a:stretch/>
        </p:blipFill>
        <p:spPr>
          <a:xfrm>
            <a:off x="189145" y="4025644"/>
            <a:ext cx="3935955" cy="263779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 rotWithShape="1">
          <a:blip r:embed="rId2"/>
          <a:srcRect t="7393" r="21859" b="87547"/>
          <a:stretch/>
        </p:blipFill>
        <p:spPr>
          <a:xfrm>
            <a:off x="3740536" y="4539838"/>
            <a:ext cx="4309805" cy="241948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 rotWithShape="1">
          <a:blip r:embed="rId2"/>
          <a:srcRect t="13385" r="22128" b="80065"/>
          <a:stretch/>
        </p:blipFill>
        <p:spPr>
          <a:xfrm>
            <a:off x="7629162" y="4076991"/>
            <a:ext cx="4143355" cy="322446"/>
          </a:xfrm>
          <a:prstGeom prst="rect">
            <a:avLst/>
          </a:prstGeom>
        </p:spPr>
      </p:pic>
      <p:cxnSp>
        <p:nvCxnSpPr>
          <p:cNvPr id="8" name="Straight Arrow Connector 7"/>
          <p:cNvCxnSpPr>
            <a:stCxn id="34" idx="2"/>
            <a:endCxn id="38" idx="0"/>
          </p:cNvCxnSpPr>
          <p:nvPr/>
        </p:nvCxnSpPr>
        <p:spPr>
          <a:xfrm flipH="1">
            <a:off x="3843249" y="2907414"/>
            <a:ext cx="1" cy="480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257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52475" y="495300"/>
            <a:ext cx="316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TRAINING DATA SET</a:t>
            </a:r>
            <a:endParaRPr lang="en-PH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088" y="1033025"/>
            <a:ext cx="7977188" cy="531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023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43525" y="733425"/>
            <a:ext cx="14859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DOCUMENTS</a:t>
            </a:r>
            <a:endParaRPr lang="en-PH" dirty="0"/>
          </a:p>
        </p:txBody>
      </p:sp>
      <p:sp>
        <p:nvSpPr>
          <p:cNvPr id="5" name="TextBox 4"/>
          <p:cNvSpPr txBox="1"/>
          <p:nvPr/>
        </p:nvSpPr>
        <p:spPr>
          <a:xfrm>
            <a:off x="3857625" y="1192768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complete</a:t>
            </a:r>
            <a:endParaRPr lang="en-PH" dirty="0"/>
          </a:p>
        </p:txBody>
      </p:sp>
      <p:sp>
        <p:nvSpPr>
          <p:cNvPr id="6" name="TextBox 5"/>
          <p:cNvSpPr txBox="1"/>
          <p:nvPr/>
        </p:nvSpPr>
        <p:spPr>
          <a:xfrm>
            <a:off x="6829425" y="1192768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incomplete</a:t>
            </a:r>
            <a:endParaRPr lang="en-PH" dirty="0"/>
          </a:p>
        </p:txBody>
      </p:sp>
      <p:sp>
        <p:nvSpPr>
          <p:cNvPr id="7" name="TextBox 6"/>
          <p:cNvSpPr txBox="1"/>
          <p:nvPr/>
        </p:nvSpPr>
        <p:spPr>
          <a:xfrm>
            <a:off x="5029200" y="268843"/>
            <a:ext cx="2114550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Eligible: y=2, n=25</a:t>
            </a:r>
            <a:endParaRPr lang="en-PH" dirty="0"/>
          </a:p>
        </p:txBody>
      </p:sp>
      <p:cxnSp>
        <p:nvCxnSpPr>
          <p:cNvPr id="9" name="Straight Arrow Connector 8"/>
          <p:cNvCxnSpPr>
            <a:stCxn id="4" idx="1"/>
            <a:endCxn id="5" idx="0"/>
          </p:cNvCxnSpPr>
          <p:nvPr/>
        </p:nvCxnSpPr>
        <p:spPr>
          <a:xfrm flipH="1">
            <a:off x="4600575" y="918091"/>
            <a:ext cx="742950" cy="274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4" idx="3"/>
            <a:endCxn id="6" idx="0"/>
          </p:cNvCxnSpPr>
          <p:nvPr/>
        </p:nvCxnSpPr>
        <p:spPr>
          <a:xfrm>
            <a:off x="6829425" y="918091"/>
            <a:ext cx="742950" cy="274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8" y="1952624"/>
            <a:ext cx="5415402" cy="20288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072" y="1952624"/>
            <a:ext cx="6044903" cy="1981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026664" y="4002641"/>
            <a:ext cx="2114550" cy="6463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y=2, n=13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split further</a:t>
            </a:r>
            <a:endParaRPr lang="en-PH" b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15325" y="4002641"/>
            <a:ext cx="2114550" cy="6463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n=12</a:t>
            </a:r>
          </a:p>
          <a:p>
            <a:pPr algn="ctr"/>
            <a:r>
              <a:rPr lang="en-US" b="1" dirty="0" smtClean="0">
                <a:solidFill>
                  <a:schemeClr val="accent6"/>
                </a:solidFill>
              </a:rPr>
              <a:t>pure subset</a:t>
            </a:r>
            <a:endParaRPr lang="en-PH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3003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43525" y="733425"/>
            <a:ext cx="14859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DOCUMENTS</a:t>
            </a:r>
            <a:endParaRPr lang="en-PH" dirty="0"/>
          </a:p>
        </p:txBody>
      </p:sp>
      <p:sp>
        <p:nvSpPr>
          <p:cNvPr id="5" name="TextBox 4"/>
          <p:cNvSpPr txBox="1"/>
          <p:nvPr/>
        </p:nvSpPr>
        <p:spPr>
          <a:xfrm>
            <a:off x="3857625" y="1192768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complete</a:t>
            </a:r>
            <a:endParaRPr lang="en-PH" dirty="0"/>
          </a:p>
        </p:txBody>
      </p:sp>
      <p:sp>
        <p:nvSpPr>
          <p:cNvPr id="6" name="TextBox 5"/>
          <p:cNvSpPr txBox="1"/>
          <p:nvPr/>
        </p:nvSpPr>
        <p:spPr>
          <a:xfrm>
            <a:off x="6829425" y="1192768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incomplete</a:t>
            </a:r>
            <a:endParaRPr lang="en-PH" dirty="0"/>
          </a:p>
        </p:txBody>
      </p:sp>
      <p:sp>
        <p:nvSpPr>
          <p:cNvPr id="7" name="TextBox 6"/>
          <p:cNvSpPr txBox="1"/>
          <p:nvPr/>
        </p:nvSpPr>
        <p:spPr>
          <a:xfrm>
            <a:off x="5029200" y="268843"/>
            <a:ext cx="2114550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Eligible: y=2, n=25</a:t>
            </a:r>
            <a:endParaRPr lang="en-PH" dirty="0"/>
          </a:p>
        </p:txBody>
      </p:sp>
      <p:cxnSp>
        <p:nvCxnSpPr>
          <p:cNvPr id="9" name="Straight Arrow Connector 8"/>
          <p:cNvCxnSpPr>
            <a:stCxn id="4" idx="1"/>
            <a:endCxn id="5" idx="0"/>
          </p:cNvCxnSpPr>
          <p:nvPr/>
        </p:nvCxnSpPr>
        <p:spPr>
          <a:xfrm flipH="1">
            <a:off x="4600575" y="918091"/>
            <a:ext cx="742950" cy="274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4" idx="3"/>
            <a:endCxn id="6" idx="0"/>
          </p:cNvCxnSpPr>
          <p:nvPr/>
        </p:nvCxnSpPr>
        <p:spPr>
          <a:xfrm>
            <a:off x="6829425" y="918091"/>
            <a:ext cx="742950" cy="274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24863" y="4649649"/>
            <a:ext cx="2114550" cy="6463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y=2, n=7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split further</a:t>
            </a:r>
            <a:endParaRPr lang="en-PH" b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80243" y="4132874"/>
            <a:ext cx="2114550" cy="6463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n=6</a:t>
            </a:r>
          </a:p>
          <a:p>
            <a:pPr algn="ctr"/>
            <a:r>
              <a:rPr lang="en-US" b="1" dirty="0" smtClean="0">
                <a:solidFill>
                  <a:schemeClr val="accent6"/>
                </a:solidFill>
              </a:rPr>
              <a:t>pure subset</a:t>
            </a:r>
            <a:endParaRPr lang="en-PH" b="1" dirty="0">
              <a:solidFill>
                <a:schemeClr val="accent6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30805" y="1708785"/>
            <a:ext cx="14859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TUITION</a:t>
            </a:r>
            <a:endParaRPr lang="en-PH" dirty="0"/>
          </a:p>
        </p:txBody>
      </p:sp>
      <p:sp>
        <p:nvSpPr>
          <p:cNvPr id="14" name="TextBox 13"/>
          <p:cNvSpPr txBox="1"/>
          <p:nvPr/>
        </p:nvSpPr>
        <p:spPr>
          <a:xfrm>
            <a:off x="1304925" y="2224802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p&gt;=50%</a:t>
            </a:r>
            <a:endParaRPr lang="en-PH" dirty="0"/>
          </a:p>
        </p:txBody>
      </p:sp>
      <p:sp>
        <p:nvSpPr>
          <p:cNvPr id="15" name="TextBox 14"/>
          <p:cNvSpPr txBox="1"/>
          <p:nvPr/>
        </p:nvSpPr>
        <p:spPr>
          <a:xfrm>
            <a:off x="3857625" y="2224802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p&lt;50%</a:t>
            </a:r>
            <a:endParaRPr lang="en-PH" dirty="0"/>
          </a:p>
        </p:txBody>
      </p:sp>
      <p:cxnSp>
        <p:nvCxnSpPr>
          <p:cNvPr id="3" name="Straight Arrow Connector 2"/>
          <p:cNvCxnSpPr>
            <a:stCxn id="13" idx="1"/>
            <a:endCxn id="14" idx="0"/>
          </p:cNvCxnSpPr>
          <p:nvPr/>
        </p:nvCxnSpPr>
        <p:spPr>
          <a:xfrm flipH="1">
            <a:off x="2047875" y="1893451"/>
            <a:ext cx="582930" cy="331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3" idx="3"/>
            <a:endCxn id="15" idx="0"/>
          </p:cNvCxnSpPr>
          <p:nvPr/>
        </p:nvCxnSpPr>
        <p:spPr>
          <a:xfrm>
            <a:off x="4116705" y="1893451"/>
            <a:ext cx="483870" cy="331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"/>
          <a:srcRect b="39650"/>
          <a:stretch/>
        </p:blipFill>
        <p:spPr>
          <a:xfrm>
            <a:off x="60138" y="2765732"/>
            <a:ext cx="5844000" cy="159845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2"/>
          <a:srcRect t="60352"/>
          <a:stretch/>
        </p:blipFill>
        <p:spPr>
          <a:xfrm>
            <a:off x="5946981" y="2772861"/>
            <a:ext cx="6068297" cy="901363"/>
          </a:xfrm>
          <a:prstGeom prst="rect">
            <a:avLst/>
          </a:prstGeom>
        </p:spPr>
      </p:pic>
      <p:cxnSp>
        <p:nvCxnSpPr>
          <p:cNvPr id="8" name="Straight Arrow Connector 7"/>
          <p:cNvCxnSpPr>
            <a:stCxn id="5" idx="1"/>
            <a:endCxn id="13" idx="0"/>
          </p:cNvCxnSpPr>
          <p:nvPr/>
        </p:nvCxnSpPr>
        <p:spPr>
          <a:xfrm flipH="1">
            <a:off x="3373755" y="1377434"/>
            <a:ext cx="483870" cy="331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698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29650" y="464582"/>
            <a:ext cx="14859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DOCUMENTS</a:t>
            </a:r>
            <a:endParaRPr lang="en-PH" dirty="0"/>
          </a:p>
        </p:txBody>
      </p:sp>
      <p:sp>
        <p:nvSpPr>
          <p:cNvPr id="5" name="TextBox 4"/>
          <p:cNvSpPr txBox="1"/>
          <p:nvPr/>
        </p:nvSpPr>
        <p:spPr>
          <a:xfrm>
            <a:off x="7143750" y="923925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complete</a:t>
            </a:r>
            <a:endParaRPr lang="en-PH" dirty="0"/>
          </a:p>
        </p:txBody>
      </p:sp>
      <p:sp>
        <p:nvSpPr>
          <p:cNvPr id="6" name="TextBox 5"/>
          <p:cNvSpPr txBox="1"/>
          <p:nvPr/>
        </p:nvSpPr>
        <p:spPr>
          <a:xfrm>
            <a:off x="10115550" y="923925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incomplete</a:t>
            </a:r>
            <a:endParaRPr lang="en-PH" dirty="0"/>
          </a:p>
        </p:txBody>
      </p:sp>
      <p:sp>
        <p:nvSpPr>
          <p:cNvPr id="7" name="TextBox 6"/>
          <p:cNvSpPr txBox="1"/>
          <p:nvPr/>
        </p:nvSpPr>
        <p:spPr>
          <a:xfrm>
            <a:off x="8315325" y="0"/>
            <a:ext cx="2114550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Eligible: y=2, n=25</a:t>
            </a:r>
            <a:endParaRPr lang="en-PH" dirty="0"/>
          </a:p>
        </p:txBody>
      </p:sp>
      <p:cxnSp>
        <p:nvCxnSpPr>
          <p:cNvPr id="9" name="Straight Arrow Connector 8"/>
          <p:cNvCxnSpPr>
            <a:stCxn id="4" idx="1"/>
            <a:endCxn id="5" idx="0"/>
          </p:cNvCxnSpPr>
          <p:nvPr/>
        </p:nvCxnSpPr>
        <p:spPr>
          <a:xfrm flipH="1">
            <a:off x="7886700" y="649248"/>
            <a:ext cx="742950" cy="274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4" idx="3"/>
            <a:endCxn id="6" idx="0"/>
          </p:cNvCxnSpPr>
          <p:nvPr/>
        </p:nvCxnSpPr>
        <p:spPr>
          <a:xfrm>
            <a:off x="10115550" y="649248"/>
            <a:ext cx="742950" cy="274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943801" y="4452732"/>
            <a:ext cx="2114550" cy="6463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n=3</a:t>
            </a:r>
          </a:p>
          <a:p>
            <a:pPr algn="ctr"/>
            <a:r>
              <a:rPr lang="en-US" b="1" dirty="0" smtClean="0">
                <a:solidFill>
                  <a:schemeClr val="accent6"/>
                </a:solidFill>
              </a:rPr>
              <a:t>pure subset</a:t>
            </a:r>
            <a:endParaRPr lang="en-PH" b="1" dirty="0">
              <a:solidFill>
                <a:schemeClr val="accent6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16930" y="1439942"/>
            <a:ext cx="14859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TUITION</a:t>
            </a:r>
            <a:endParaRPr lang="en-PH" dirty="0"/>
          </a:p>
        </p:txBody>
      </p:sp>
      <p:sp>
        <p:nvSpPr>
          <p:cNvPr id="14" name="TextBox 13"/>
          <p:cNvSpPr txBox="1"/>
          <p:nvPr/>
        </p:nvSpPr>
        <p:spPr>
          <a:xfrm>
            <a:off x="4591050" y="1955959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p&gt;=50%</a:t>
            </a:r>
            <a:endParaRPr lang="en-PH" dirty="0"/>
          </a:p>
        </p:txBody>
      </p:sp>
      <p:sp>
        <p:nvSpPr>
          <p:cNvPr id="15" name="TextBox 14"/>
          <p:cNvSpPr txBox="1"/>
          <p:nvPr/>
        </p:nvSpPr>
        <p:spPr>
          <a:xfrm>
            <a:off x="7143750" y="1955959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p&lt;50%</a:t>
            </a:r>
            <a:endParaRPr lang="en-PH" dirty="0"/>
          </a:p>
        </p:txBody>
      </p:sp>
      <p:cxnSp>
        <p:nvCxnSpPr>
          <p:cNvPr id="3" name="Straight Arrow Connector 2"/>
          <p:cNvCxnSpPr>
            <a:stCxn id="13" idx="1"/>
            <a:endCxn id="14" idx="0"/>
          </p:cNvCxnSpPr>
          <p:nvPr/>
        </p:nvCxnSpPr>
        <p:spPr>
          <a:xfrm flipH="1">
            <a:off x="5334000" y="1624608"/>
            <a:ext cx="582930" cy="331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3" idx="3"/>
            <a:endCxn id="15" idx="0"/>
          </p:cNvCxnSpPr>
          <p:nvPr/>
        </p:nvCxnSpPr>
        <p:spPr>
          <a:xfrm>
            <a:off x="7402830" y="1624608"/>
            <a:ext cx="483870" cy="331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5" idx="1"/>
            <a:endCxn id="13" idx="0"/>
          </p:cNvCxnSpPr>
          <p:nvPr/>
        </p:nvCxnSpPr>
        <p:spPr>
          <a:xfrm flipH="1">
            <a:off x="6659880" y="1108591"/>
            <a:ext cx="483870" cy="331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99585" y="2542464"/>
            <a:ext cx="206883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COURSE SELECTION</a:t>
            </a:r>
            <a:endParaRPr lang="en-PH" dirty="0"/>
          </a:p>
        </p:txBody>
      </p:sp>
      <p:cxnSp>
        <p:nvCxnSpPr>
          <p:cNvPr id="16" name="Straight Arrow Connector 15"/>
          <p:cNvCxnSpPr>
            <a:stCxn id="14" idx="2"/>
            <a:endCxn id="22" idx="0"/>
          </p:cNvCxnSpPr>
          <p:nvPr/>
        </p:nvCxnSpPr>
        <p:spPr>
          <a:xfrm>
            <a:off x="5334000" y="2325291"/>
            <a:ext cx="0" cy="217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437496" y="3058481"/>
            <a:ext cx="14859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Confirmed</a:t>
            </a:r>
            <a:endParaRPr lang="en-PH" dirty="0"/>
          </a:p>
        </p:txBody>
      </p:sp>
      <p:sp>
        <p:nvSpPr>
          <p:cNvPr id="24" name="TextBox 23"/>
          <p:cNvSpPr txBox="1"/>
          <p:nvPr/>
        </p:nvSpPr>
        <p:spPr>
          <a:xfrm>
            <a:off x="7402830" y="3058481"/>
            <a:ext cx="19697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Selection Open</a:t>
            </a:r>
            <a:endParaRPr lang="en-PH" dirty="0"/>
          </a:p>
        </p:txBody>
      </p:sp>
      <p:sp>
        <p:nvSpPr>
          <p:cNvPr id="29" name="Rectangle 28"/>
          <p:cNvSpPr/>
          <p:nvPr/>
        </p:nvSpPr>
        <p:spPr>
          <a:xfrm>
            <a:off x="207818" y="191193"/>
            <a:ext cx="2094807" cy="4580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COMPUTE</a:t>
            </a:r>
            <a:endParaRPr lang="en-PH" dirty="0">
              <a:solidFill>
                <a:sysClr val="windowText" lastClr="00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92065" y="4687930"/>
            <a:ext cx="196977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Not Applicable</a:t>
            </a:r>
            <a:endParaRPr lang="en-PH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2"/>
          <a:srcRect t="53395" b="39650"/>
          <a:stretch/>
        </p:blipFill>
        <p:spPr>
          <a:xfrm>
            <a:off x="6198447" y="4193964"/>
            <a:ext cx="5844000" cy="184206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 rotWithShape="1">
          <a:blip r:embed="rId2"/>
          <a:srcRect b="93386"/>
          <a:stretch/>
        </p:blipFill>
        <p:spPr>
          <a:xfrm>
            <a:off x="232950" y="3708752"/>
            <a:ext cx="5844000" cy="175188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/>
          <a:srcRect t="19930" b="73793"/>
          <a:stretch/>
        </p:blipFill>
        <p:spPr>
          <a:xfrm>
            <a:off x="232950" y="3951481"/>
            <a:ext cx="5844000" cy="166256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2"/>
          <a:srcRect t="40173" b="52922"/>
          <a:stretch/>
        </p:blipFill>
        <p:spPr>
          <a:xfrm>
            <a:off x="232950" y="4269852"/>
            <a:ext cx="5844000" cy="18288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2"/>
          <a:srcRect t="7296" b="87055"/>
          <a:stretch/>
        </p:blipFill>
        <p:spPr>
          <a:xfrm>
            <a:off x="3065165" y="5187322"/>
            <a:ext cx="5844000" cy="149629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/>
          <a:srcRect t="26776" b="66633"/>
          <a:stretch/>
        </p:blipFill>
        <p:spPr>
          <a:xfrm>
            <a:off x="3065165" y="5408631"/>
            <a:ext cx="5844000" cy="174569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2"/>
          <a:srcRect t="46396" b="46072"/>
          <a:stretch/>
        </p:blipFill>
        <p:spPr>
          <a:xfrm>
            <a:off x="3065165" y="5653433"/>
            <a:ext cx="5844000" cy="199506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/>
          <a:srcRect t="13789" b="79934"/>
          <a:stretch/>
        </p:blipFill>
        <p:spPr>
          <a:xfrm>
            <a:off x="6198447" y="3715468"/>
            <a:ext cx="5844000" cy="166256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2"/>
          <a:srcRect l="-97" t="34109" r="-1137" b="59849"/>
          <a:stretch/>
        </p:blipFill>
        <p:spPr>
          <a:xfrm>
            <a:off x="6209607" y="3956858"/>
            <a:ext cx="5916140" cy="16006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019675" y="5923352"/>
            <a:ext cx="2114550" cy="92333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y=1, n=2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no further split, not pure</a:t>
            </a:r>
            <a:endParaRPr lang="en-PH" b="1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/>
          <p:cNvCxnSpPr>
            <a:stCxn id="22" idx="1"/>
            <a:endCxn id="23" idx="0"/>
          </p:cNvCxnSpPr>
          <p:nvPr/>
        </p:nvCxnSpPr>
        <p:spPr>
          <a:xfrm flipH="1">
            <a:off x="3180446" y="2727130"/>
            <a:ext cx="1119139" cy="331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2" idx="2"/>
            <a:endCxn id="25" idx="0"/>
          </p:cNvCxnSpPr>
          <p:nvPr/>
        </p:nvCxnSpPr>
        <p:spPr>
          <a:xfrm>
            <a:off x="5334000" y="2911796"/>
            <a:ext cx="742950" cy="1776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2" idx="3"/>
            <a:endCxn id="24" idx="0"/>
          </p:cNvCxnSpPr>
          <p:nvPr/>
        </p:nvCxnSpPr>
        <p:spPr>
          <a:xfrm>
            <a:off x="6368415" y="2727130"/>
            <a:ext cx="2019300" cy="331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17958" y="4591417"/>
            <a:ext cx="2114550" cy="92333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y=1, n=2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no further split, not pure</a:t>
            </a:r>
            <a:endParaRPr lang="en-PH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1373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328</Words>
  <Application>Microsoft Office PowerPoint</Application>
  <PresentationFormat>Widescreen</PresentationFormat>
  <Paragraphs>168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sanathalove</dc:creator>
  <cp:lastModifiedBy>sanathalove</cp:lastModifiedBy>
  <cp:revision>7</cp:revision>
  <dcterms:created xsi:type="dcterms:W3CDTF">2024-04-23T06:09:16Z</dcterms:created>
  <dcterms:modified xsi:type="dcterms:W3CDTF">2024-04-23T07:10:21Z</dcterms:modified>
</cp:coreProperties>
</file>